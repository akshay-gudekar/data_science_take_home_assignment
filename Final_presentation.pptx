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5" r:id="rId17"/>
    <p:sldId id="266" r:id="rId18"/>
    <p:sldId id="269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837" autoAdjust="0"/>
  </p:normalViewPr>
  <p:slideViewPr>
    <p:cSldViewPr snapToGrid="0" snapToObjects="1">
      <p:cViewPr varScale="1">
        <p:scale>
          <a:sx n="53" d="100"/>
          <a:sy n="53" d="100"/>
        </p:scale>
        <p:origin x="18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17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1 - Opening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This presentation is focused on the data preprocessing and feature engineering phase of an electric bus energy prediction project.</a:t>
            </a:r>
          </a:p>
          <a:p>
            <a:r>
              <a:rPr dirty="0"/>
              <a:t>- I will explain what data quality issues existed, how I handled them, how I built features, and what insights were validated.</a:t>
            </a:r>
          </a:p>
          <a:p>
            <a:r>
              <a:rPr dirty="0"/>
              <a:t>- Scope note: this is preprocessing-only, not model training.</a:t>
            </a:r>
          </a:p>
          <a:p>
            <a:endParaRPr dirty="0"/>
          </a:p>
          <a:p>
            <a:r>
              <a:rPr dirty="0"/>
              <a:t>Key message:</a:t>
            </a:r>
          </a:p>
          <a:p>
            <a:r>
              <a:rPr dirty="0"/>
              <a:t>- Reliable modeling starts with reliable data preparation.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Why focus so much on preprocessing?</a:t>
            </a:r>
          </a:p>
          <a:p>
            <a:r>
              <a:rPr dirty="0"/>
              <a:t>A: Because raw telemetry is noisy/incomplete; poor preprocessing would dominate model error more than model choice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 - End-to-End Approach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The workflow is intentionally ordered: ingest -&gt; quality audit -&gt; cleaning -&gt; target creation -&gt; feature engineering -&gt; integration -&gt; validation -&gt; export.</a:t>
            </a:r>
          </a:p>
          <a:p>
            <a:r>
              <a:rPr dirty="0"/>
              <a:t>- This order reduces error propagation and keeps each step auditable.</a:t>
            </a:r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Methodical process instead of ad hoc transformations.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Why not feature engineer first and clean later?</a:t>
            </a:r>
          </a:p>
          <a:p>
            <a:r>
              <a:rPr dirty="0"/>
              <a:t>A: Feature engineering on unclean signals can bake noise and bias into final predictors; cleaning first protects feature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4 - Missing Data and Error Profile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Missingness was uneven across columns, especially odometer and doors.</a:t>
            </a:r>
          </a:p>
          <a:p>
            <a:r>
              <a:rPr dirty="0"/>
              <a:t>- This ruled out one-size-fits-all imputation.</a:t>
            </a:r>
          </a:p>
          <a:p>
            <a:r>
              <a:rPr dirty="0"/>
              <a:t>- I profiled missingness first so handling was evidence-based.</a:t>
            </a:r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Diagnose first, then fix.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Why not use a single imputer for all columns?</a:t>
            </a:r>
          </a:p>
          <a:p>
            <a:r>
              <a:rPr dirty="0"/>
              <a:t>A: Column semantics differ: cumulative signals, state variables, noisy continuous signals need different handling to avoid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5 - Handling Weight Signal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Weight had both missing values and heavy movement-induced spikes.</a:t>
            </a:r>
          </a:p>
          <a:p>
            <a:r>
              <a:rPr dirty="0"/>
              <a:t>- I converted values to numeric and used centered rolling median with window 11.</a:t>
            </a:r>
          </a:p>
          <a:p>
            <a:r>
              <a:rPr dirty="0"/>
              <a:t>- Median was chosen because it is robust to outlier spikes.</a:t>
            </a:r>
          </a:p>
          <a:p>
            <a:endParaRPr dirty="0"/>
          </a:p>
          <a:p>
            <a:r>
              <a:rPr dirty="0"/>
              <a:t>Parameter explanation:</a:t>
            </a:r>
          </a:p>
          <a:p>
            <a:r>
              <a:rPr dirty="0"/>
              <a:t>- window=11 balances smoothing and signal retention.</a:t>
            </a:r>
          </a:p>
          <a:p>
            <a:r>
              <a:rPr dirty="0"/>
              <a:t>- center=True aligns smoothed point with local neighborhood.</a:t>
            </a:r>
          </a:p>
          <a:p>
            <a:r>
              <a:rPr dirty="0"/>
              <a:t>- </a:t>
            </a:r>
            <a:r>
              <a:rPr dirty="0" err="1"/>
              <a:t>min_periods</a:t>
            </a:r>
            <a:r>
              <a:rPr dirty="0"/>
              <a:t>=1 avoids edge </a:t>
            </a:r>
            <a:r>
              <a:rPr dirty="0" err="1"/>
              <a:t>NaNs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Why median instead of mean?</a:t>
            </a:r>
          </a:p>
          <a:p>
            <a:r>
              <a:rPr dirty="0"/>
              <a:t>A: Mean is sensitive to spikes; median is robust and preserved trend better in this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6 - Missing Value Strategy by Column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Odometer: used valid endpoint logic for distance.</a:t>
            </a:r>
          </a:p>
          <a:p>
            <a:r>
              <a:rPr dirty="0"/>
              <a:t>- Weight: robust smoothing after numeric coercion.</a:t>
            </a:r>
          </a:p>
          <a:p>
            <a:r>
              <a:rPr dirty="0"/>
              <a:t>- Doors: used valid states for transition-based features.</a:t>
            </a:r>
          </a:p>
          <a:p>
            <a:r>
              <a:rPr dirty="0"/>
              <a:t>- Weather unmatched days: preserved as </a:t>
            </a:r>
            <a:r>
              <a:rPr dirty="0" err="1"/>
              <a:t>NaN</a:t>
            </a:r>
            <a:r>
              <a:rPr dirty="0"/>
              <a:t> for transparency.</a:t>
            </a:r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The strategy is feature-aware, not tool-driven.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Is leaving weather </a:t>
            </a:r>
            <a:r>
              <a:rPr dirty="0" err="1"/>
              <a:t>NaN</a:t>
            </a:r>
            <a:r>
              <a:rPr dirty="0"/>
              <a:t> acceptable?</a:t>
            </a:r>
          </a:p>
          <a:p>
            <a:r>
              <a:rPr dirty="0"/>
              <a:t>A: Yes for transparency; it avoids fabricated values and can be handled downstream with explicit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7 - Integration of Trip and Weather Data</a:t>
            </a:r>
          </a:p>
          <a:p>
            <a:endParaRPr/>
          </a:p>
          <a:p>
            <a:r>
              <a:t>Talk track:</a:t>
            </a:r>
          </a:p>
          <a:p>
            <a:r>
              <a:t>- Features were generated trip-by-trip, then weather was matched using trip start date.</a:t>
            </a:r>
          </a:p>
          <a:p>
            <a:r>
              <a:t>- All blocks were merged into one row per trip.</a:t>
            </a:r>
          </a:p>
          <a:p>
            <a:r>
              <a:t>- This preserves granularity consistency for tabular ML.</a:t>
            </a:r>
          </a:p>
          <a:p>
            <a:endParaRPr/>
          </a:p>
          <a:p>
            <a:r>
              <a:t>What to emphasize:</a:t>
            </a:r>
          </a:p>
          <a:p>
            <a:r>
              <a:t>- Integration key: trip identity + trip date.</a:t>
            </a:r>
          </a:p>
          <a:p>
            <a:endParaRPr/>
          </a:p>
          <a:p>
            <a:r>
              <a:t>Likely question:</a:t>
            </a:r>
          </a:p>
          <a:p>
            <a:r>
              <a:t>Q: Why daily weather and not hourly?</a:t>
            </a:r>
          </a:p>
          <a:p>
            <a:r>
              <a:t>A: Daily was available in provided data; hourly would be a future enhancement for finer HVAC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8 - Target Variable Construction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Energy consumed per trip was computed from discharging power over time.</a:t>
            </a:r>
          </a:p>
          <a:p>
            <a:r>
              <a:rPr dirty="0"/>
              <a:t>- Formula: sum(abs(power) * </a:t>
            </a:r>
            <a:r>
              <a:rPr dirty="0" err="1"/>
              <a:t>delta_time</a:t>
            </a:r>
            <a:r>
              <a:rPr dirty="0"/>
              <a:t> / 3600) to get kWh.</a:t>
            </a:r>
          </a:p>
          <a:p>
            <a:r>
              <a:rPr dirty="0"/>
              <a:t>- This is direct telemetry-based target creation.</a:t>
            </a:r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Target is physically meaningful and reproducible.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Why use abs(power)?</a:t>
            </a:r>
          </a:p>
          <a:p>
            <a:r>
              <a:rPr dirty="0"/>
              <a:t>A: During discharge, sign conventions may be negative; absolute value captures consumed magnitude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9 - Derived Features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I engineered trip dynamics, power profile, thermal features, door event features, weather context, and quality flag.</a:t>
            </a:r>
          </a:p>
          <a:p>
            <a:r>
              <a:rPr dirty="0"/>
              <a:t>- Feature design focused on interpretability and relation to energy mechanisms.</a:t>
            </a:r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Features map to real operational behavior.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Why not auto-generate hundreds of features?</a:t>
            </a:r>
          </a:p>
          <a:p>
            <a:r>
              <a:rPr dirty="0"/>
              <a:t>A: Small sample size (24 trips) favors interpretable, high-signal features over high-dimensional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dirty="0"/>
                  <a:t>Slide 10 - Distance vs Energy</a:t>
                </a:r>
              </a:p>
              <a:p>
                <a:endParaRPr dirty="0"/>
              </a:p>
              <a:p>
                <a:r>
                  <a:rPr dirty="0"/>
                  <a:t>Talk track:</a:t>
                </a:r>
              </a:p>
              <a:p>
                <a:r>
                  <a:rPr dirty="0"/>
                  <a:t>- This plot shows a very strong positive relationship between trip distance and energy use.</a:t>
                </a:r>
              </a:p>
              <a:p>
                <a:r>
                  <a:rPr dirty="0"/>
                  <a:t>- It validates both distance engineering and target calculation consistency.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-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higher distance tends to increase energy, so strong positive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𝑟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endParaRPr dirty="0"/>
              </a:p>
              <a:p>
                <a:r>
                  <a:rPr dirty="0"/>
                  <a:t>What to emphasize: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dirty="0"/>
                  <a:t>- Distance is dominant driver in this dataset.</a:t>
                </a:r>
                <a:br>
                  <a:rPr lang="en-US" dirty="0"/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Energy is computed from power over time.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 helps model learn trip intensity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 acts as a strong baseline predictor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small datasets, strong direct signals improve stability.</a:t>
                </a:r>
              </a:p>
              <a:p>
                <a:endParaRPr dirty="0"/>
              </a:p>
              <a:p>
                <a:endParaRPr dirty="0"/>
              </a:p>
              <a:p>
                <a:r>
                  <a:rPr dirty="0"/>
                  <a:t>Likely question:</a:t>
                </a:r>
              </a:p>
              <a:p>
                <a:r>
                  <a:rPr dirty="0"/>
                  <a:t>Q: Could this be spurious?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dirty="0"/>
                  <a:t>A: Unlikely here because it is physically expected and consistent across trips.</a:t>
                </a:r>
                <a:br>
                  <a:rPr lang="en-US" dirty="0"/>
                </a:br>
                <a:br>
                  <a:rPr lang="en-US" dirty="0"/>
                </a:b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dirty="0"/>
                  <a:t>Slide 10 - Distance vs Energy</a:t>
                </a:r>
              </a:p>
              <a:p>
                <a:endParaRPr dirty="0"/>
              </a:p>
              <a:p>
                <a:r>
                  <a:rPr dirty="0"/>
                  <a:t>Talk track:</a:t>
                </a:r>
              </a:p>
              <a:p>
                <a:r>
                  <a:rPr dirty="0"/>
                  <a:t>- This plot shows a very strong positive relationship between trip distance and energy use.</a:t>
                </a:r>
              </a:p>
              <a:p>
                <a:r>
                  <a:rPr dirty="0"/>
                  <a:t>- It validates both distance engineering and target calculation consistency.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-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higher distance tends to increase energy, so strong positive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endParaRPr dirty="0"/>
              </a:p>
              <a:p>
                <a:r>
                  <a:rPr dirty="0"/>
                  <a:t>What to emphasize: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dirty="0"/>
                  <a:t>- Distance is dominant driver in this dataset.</a:t>
                </a:r>
                <a:br>
                  <a:rPr lang="en-US" dirty="0"/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Energy is computed from power over time.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 helps model learn trip intensity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It acts as a strong baseline predictor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small datasets, strong direct signals improve stability.</a:t>
                </a:r>
              </a:p>
              <a:p>
                <a:endParaRPr dirty="0"/>
              </a:p>
              <a:p>
                <a:endParaRPr dirty="0"/>
              </a:p>
              <a:p>
                <a:r>
                  <a:rPr dirty="0"/>
                  <a:t>Likely question:</a:t>
                </a:r>
              </a:p>
              <a:p>
                <a:r>
                  <a:rPr dirty="0"/>
                  <a:t>Q: Could this be spurious?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dirty="0"/>
                  <a:t>A: Unlikely here because it is physically expected and consistent across trips.</a:t>
                </a:r>
                <a:br>
                  <a:rPr lang="en-US" dirty="0"/>
                </a:br>
                <a:br>
                  <a:rPr lang="en-US" dirty="0"/>
                </a:b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11 - Temperature vs Energy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Temperature effect exists but is weaker than distance and door dynamics in this sample.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- This can happen when operational route length dominates energy variance.</a:t>
            </a:r>
            <a:br>
              <a:rPr lang="en-US" dirty="0"/>
            </a:br>
            <a:r>
              <a:rPr lang="en-US" dirty="0"/>
              <a:t>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tells how strongly interior temperature is linearly linked to energy in your dataset.</a:t>
            </a:r>
            <a:endParaRPr dirty="0"/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Not all intuitive features are equally strong in every dataset.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correlation slides are required,” that is to validate preprocessing quality and show which features actually relate to energy before modeling.</a:t>
            </a:r>
            <a:br>
              <a:rPr lang="en-US" dirty="0"/>
            </a:br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Does weak temperature correlation mean it is useless?</a:t>
            </a:r>
          </a:p>
          <a:p>
            <a:r>
              <a:rPr dirty="0"/>
              <a:t>A: No, it may become more useful with larger sample size or finer-granularity weather/thermal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14 - Why This Approach vs Alternatives</a:t>
            </a:r>
          </a:p>
          <a:p>
            <a:endParaRPr dirty="0"/>
          </a:p>
          <a:p>
            <a:r>
              <a:rPr dirty="0"/>
              <a:t>Talk track:</a:t>
            </a:r>
          </a:p>
          <a:p>
            <a:r>
              <a:rPr dirty="0"/>
              <a:t>- Chosen approach: column-aware, explainable preprocessing.</a:t>
            </a:r>
          </a:p>
          <a:p>
            <a:r>
              <a:rPr dirty="0"/>
              <a:t>- Rejected: one global imputer, dropping incomplete trips, overly complex black-box methods.</a:t>
            </a:r>
          </a:p>
          <a:p>
            <a:r>
              <a:rPr dirty="0"/>
              <a:t>- Decision criterion: best balance of robustness, transparency, and assignment scope.</a:t>
            </a:r>
          </a:p>
          <a:p>
            <a:endParaRPr dirty="0"/>
          </a:p>
          <a:p>
            <a:r>
              <a:rPr dirty="0"/>
              <a:t>What to emphasize:</a:t>
            </a:r>
          </a:p>
          <a:p>
            <a:r>
              <a:rPr dirty="0"/>
              <a:t>- Method selection was deliberate and constraint-aware.</a:t>
            </a:r>
          </a:p>
          <a:p>
            <a:endParaRPr dirty="0"/>
          </a:p>
          <a:p>
            <a:r>
              <a:rPr dirty="0"/>
              <a:t>Likely question:</a:t>
            </a:r>
          </a:p>
          <a:p>
            <a:r>
              <a:rPr dirty="0"/>
              <a:t>Q: Is this the most advanced approach?</a:t>
            </a:r>
          </a:p>
          <a:p>
            <a:r>
              <a:rPr dirty="0"/>
              <a:t>A: Not necessarily, but it is the most appropriate for data size, timeline, and explainability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16 - Conclusion</a:t>
            </a:r>
          </a:p>
          <a:p>
            <a:endParaRPr/>
          </a:p>
          <a:p>
            <a:r>
              <a:t>Talk track:</a:t>
            </a:r>
          </a:p>
          <a:p>
            <a:r>
              <a:t>- The main deliverable is a robust preprocessing and feature-engineering pipeline.</a:t>
            </a:r>
          </a:p>
          <a:p>
            <a:r>
              <a:t>- It is reproducible, interpretable, and aligned with assignment expectations.</a:t>
            </a:r>
          </a:p>
          <a:p>
            <a:r>
              <a:t>- It creates a trustworthy foundation for downstream ML.</a:t>
            </a:r>
          </a:p>
          <a:p>
            <a:endParaRPr/>
          </a:p>
          <a:p>
            <a:r>
              <a:t>Closing line:</a:t>
            </a:r>
          </a:p>
          <a:p>
            <a:r>
              <a:t>- I prioritized correctness and explainability in every preprocessing decision.</a:t>
            </a:r>
          </a:p>
          <a:p>
            <a:endParaRPr/>
          </a:p>
          <a:p>
            <a:r>
              <a:t>Likely question:</a:t>
            </a:r>
          </a:p>
          <a:p>
            <a:r>
              <a:t>Q: What is your next step after this?</a:t>
            </a:r>
          </a:p>
          <a:p>
            <a:r>
              <a:t>A: Baseline model comparison (linear and tree-based), then feature importance and error analysis using this prepared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15285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4504"/>
            <a:ext cx="627152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6000" dirty="0"/>
              <a:t>Electric Bus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50288"/>
            <a:ext cx="45427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8F8"/>
                </a:solidFill>
              </a:defRPr>
            </a:pPr>
            <a:r>
              <a:rPr dirty="0"/>
              <a:t>Detailed Focus: Data Cleaning, Preprocessing, and</a:t>
            </a:r>
            <a:r>
              <a:rPr lang="en-US" dirty="0"/>
              <a:t> </a:t>
            </a:r>
            <a:r>
              <a:rPr dirty="0"/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9536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000">
                <a:solidFill>
                  <a:srgbClr val="232A34"/>
                </a:solidFill>
              </a:defRPr>
            </a:pPr>
            <a:r>
              <a:rPr dirty="0"/>
              <a:t>From raw logger signals to a robust trip-level training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t>Main focus: how data was made reliable before any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1E58D-C232-D579-C142-F95A3517E8AA}"/>
              </a:ext>
            </a:extLst>
          </p:cNvPr>
          <p:cNvSpPr txBox="1"/>
          <p:nvPr/>
        </p:nvSpPr>
        <p:spPr>
          <a:xfrm>
            <a:off x="8886172" y="6036193"/>
            <a:ext cx="272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Akshay Ganesh Gudekar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0437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End-to-End Preprocessing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8822"/>
            <a:ext cx="1078992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1. Ingestion and schema checks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2. Data quality audit (missing + invalid values)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3. Type coercion and cleanup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4. Column-specific missing value handling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5. Noise handling (weight smoothing)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6. Target construction (energy from power-time integration)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7. Feature engineering (trip-level features)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8. Data enrichment (weather)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9. Validation (missingness, correlations, outliers)</a:t>
            </a:r>
          </a:p>
          <a:p>
            <a:pPr>
              <a:spcAft>
                <a:spcPts val="500"/>
              </a:spcAft>
              <a:defRPr sz="2400">
                <a:solidFill>
                  <a:srgbClr val="232A34"/>
                </a:solidFill>
              </a:defRPr>
            </a:pPr>
            <a:r>
              <a:rPr lang="en-IN"/>
              <a:t>10. Export final reproducible dataset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59081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Missing Data and Error Profile</a:t>
            </a:r>
          </a:p>
        </p:txBody>
      </p:sp>
      <p:pic>
        <p:nvPicPr>
          <p:cNvPr id="4" name="Picture 3" descr="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766560" cy="4090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188720"/>
            <a:ext cx="42062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Raw data findings: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lang="en-US" sz="2000" dirty="0"/>
              <a:t>The odometer reading and door data were largely missing</a:t>
            </a:r>
            <a:r>
              <a:rPr sz="2000" dirty="0"/>
              <a:t>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lang="en-US" sz="2000" dirty="0"/>
              <a:t>- Weight had both missing data and strong noise.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Temperature had very low missing</a:t>
            </a:r>
            <a:r>
              <a:rPr lang="en-US" sz="2000" dirty="0"/>
              <a:t> data</a:t>
            </a:r>
            <a:r>
              <a:rPr sz="2000" dirty="0"/>
              <a:t>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Decision: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Use column-specific handling, not one global imputer.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040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Handling Weight Signal (Core Cleaning Step)</a:t>
            </a:r>
          </a:p>
        </p:txBody>
      </p:sp>
      <p:pic>
        <p:nvPicPr>
          <p:cNvPr id="4" name="Picture 3" descr="weight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76656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143000"/>
            <a:ext cx="4206240" cy="310896"/>
          </a:xfrm>
          <a:prstGeom prst="rect">
            <a:avLst/>
          </a:prstGeom>
          <a:solidFill>
            <a:srgbClr val="24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90688" y="1179576"/>
            <a:ext cx="402335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ECF8"/>
                </a:solidFill>
              </a:defRPr>
            </a:pPr>
            <a:r>
              <a:t>Implementation Snippet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53896"/>
            <a:ext cx="4206240" cy="2157984"/>
          </a:xfrm>
          <a:prstGeom prst="rect">
            <a:avLst/>
          </a:prstGeom>
          <a:solidFill>
            <a:srgbClr val="F8FAFC"/>
          </a:solidFill>
          <a:ln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08976" y="1581912"/>
            <a:ext cx="37429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941"/>
                </a:solidFill>
                <a:latin typeface="Consolas"/>
              </a:defRPr>
            </a:pPr>
            <a:r>
              <a:rPr sz="1400" dirty="0" err="1"/>
              <a:t>df</a:t>
            </a:r>
            <a:r>
              <a:rPr sz="1400" dirty="0"/>
              <a:t>['weight'] = </a:t>
            </a:r>
            <a:r>
              <a:rPr sz="1400" dirty="0" err="1"/>
              <a:t>pd.to_numeric</a:t>
            </a:r>
            <a:r>
              <a:rPr sz="1400" dirty="0"/>
              <a:t>(</a:t>
            </a:r>
            <a:r>
              <a:rPr sz="1400" dirty="0" err="1"/>
              <a:t>df</a:t>
            </a:r>
            <a:r>
              <a:rPr sz="1400" dirty="0"/>
              <a:t>['weight'], errors='coerce')</a:t>
            </a:r>
            <a:br>
              <a:rPr sz="1400" dirty="0"/>
            </a:br>
            <a:r>
              <a:rPr sz="1400" dirty="0" err="1"/>
              <a:t>df</a:t>
            </a:r>
            <a:r>
              <a:rPr sz="1400" dirty="0"/>
              <a:t>['</a:t>
            </a:r>
            <a:r>
              <a:rPr sz="1400" dirty="0" err="1"/>
              <a:t>weight_cleaned</a:t>
            </a:r>
            <a:r>
              <a:rPr sz="1400" dirty="0"/>
              <a:t>'] = (</a:t>
            </a:r>
            <a:br>
              <a:rPr sz="1400" dirty="0"/>
            </a:br>
            <a:r>
              <a:rPr sz="1400" dirty="0"/>
              <a:t>  </a:t>
            </a:r>
            <a:r>
              <a:rPr sz="1400" dirty="0" err="1"/>
              <a:t>df</a:t>
            </a:r>
            <a:r>
              <a:rPr sz="1400" dirty="0"/>
              <a:t>['weight'].rolling(window=11, center=True, </a:t>
            </a:r>
            <a:r>
              <a:rPr sz="1400" dirty="0" err="1"/>
              <a:t>min_periods</a:t>
            </a:r>
            <a:r>
              <a:rPr sz="1400" dirty="0"/>
              <a:t>=1).median()</a:t>
            </a:r>
            <a:br>
              <a:rPr sz="1400" dirty="0"/>
            </a:br>
            <a:r>
              <a:rPr sz="14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749039"/>
            <a:ext cx="420624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Why this works:</a:t>
            </a:r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- Median is robust to spikes.</a:t>
            </a:r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- Preserves central trend.</a:t>
            </a:r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- Window=11 balances smoothing and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666086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Missing Value Strategy by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Odometer: use first and last valid readings to derive trip distance.</a:t>
            </a:r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Why: cumulative signal; trip-level distance needs endpoints.</a:t>
            </a:r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Weight: numeric coercion + rolling median denoising.</a:t>
            </a:r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Why: vibration/outlier sensitive signal.</a:t>
            </a:r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Doors: convert to numeric and use valid rows for transition-based events.</a:t>
            </a:r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Why: invalid states can create false door events.</a:t>
            </a:r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800">
                <a:solidFill>
                  <a:srgbClr val="232A34"/>
                </a:solidFill>
              </a:defRPr>
            </a:pPr>
            <a:r>
              <a:rPr sz="2000" dirty="0"/>
              <a:t>Weather: keep unmatched dates as </a:t>
            </a:r>
            <a:r>
              <a:rPr sz="2000" dirty="0" err="1"/>
              <a:t>NaN</a:t>
            </a:r>
            <a:r>
              <a:rPr sz="2000" dirty="0"/>
              <a:t> (transparent unknown).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9040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Integration: 24 Trip Files + Weather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669280" cy="310896"/>
          </a:xfrm>
          <a:prstGeom prst="rect">
            <a:avLst/>
          </a:prstGeom>
          <a:solidFill>
            <a:srgbClr val="24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133856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ECF8"/>
                </a:solidFill>
              </a:defRPr>
            </a:pPr>
            <a:r>
              <a:t>Integration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08176"/>
            <a:ext cx="5669280" cy="4443984"/>
          </a:xfrm>
          <a:prstGeom prst="rect">
            <a:avLst/>
          </a:prstGeom>
          <a:solidFill>
            <a:srgbClr val="F8FAFC"/>
          </a:solidFill>
          <a:ln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36192"/>
            <a:ext cx="5236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941"/>
                </a:solidFill>
                <a:latin typeface="Consolas"/>
              </a:defRPr>
            </a:pPr>
            <a:r>
              <a:rPr sz="2000" dirty="0" err="1"/>
              <a:t>trip_files</a:t>
            </a:r>
            <a:r>
              <a:rPr sz="2000" dirty="0"/>
              <a:t> -&gt; trips </a:t>
            </a:r>
            <a:r>
              <a:rPr sz="2000" dirty="0" err="1"/>
              <a:t>dict</a:t>
            </a:r>
            <a:r>
              <a:rPr sz="2000" dirty="0"/>
              <a:t> -&gt; per-trip features</a:t>
            </a:r>
            <a:br>
              <a:rPr sz="2000" dirty="0"/>
            </a:br>
            <a:r>
              <a:rPr sz="2000" dirty="0"/>
              <a:t>trip </a:t>
            </a:r>
            <a:r>
              <a:rPr sz="2000" dirty="0" err="1"/>
              <a:t>start_date</a:t>
            </a:r>
            <a:r>
              <a:rPr sz="2000" dirty="0"/>
              <a:t> -&gt; date parse</a:t>
            </a:r>
            <a:br>
              <a:rPr sz="2000" dirty="0"/>
            </a:br>
            <a:r>
              <a:rPr sz="2000" dirty="0"/>
              <a:t>date match in weather.csv</a:t>
            </a:r>
            <a:br>
              <a:rPr sz="2000" dirty="0"/>
            </a:br>
            <a:r>
              <a:rPr sz="2000" dirty="0"/>
              <a:t>append weather features per trip</a:t>
            </a:r>
            <a:br>
              <a:rPr sz="2000" dirty="0"/>
            </a:br>
            <a:r>
              <a:rPr sz="2000" dirty="0" err="1"/>
              <a:t>concat</a:t>
            </a:r>
            <a:r>
              <a:rPr sz="2000" dirty="0"/>
              <a:t> into final </a:t>
            </a:r>
            <a:r>
              <a:rPr sz="2000" dirty="0" err="1"/>
              <a:t>training_data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48463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How merge was done: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- Trip-level key is Trip id.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- Weather matched by trip start date.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- Feature blocks combined horizontally.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Result: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Single trip-level table ready for 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025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Target Variable Construction (Energy)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852160" cy="310896"/>
          </a:xfrm>
          <a:prstGeom prst="rect">
            <a:avLst/>
          </a:prstGeom>
          <a:solidFill>
            <a:srgbClr val="24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133856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3ECF8"/>
                </a:solidFill>
              </a:defRPr>
            </a:pPr>
            <a:r>
              <a:t>Energy Formula in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08176"/>
            <a:ext cx="5852160" cy="2798064"/>
          </a:xfrm>
          <a:prstGeom prst="rect">
            <a:avLst/>
          </a:prstGeom>
          <a:solidFill>
            <a:srgbClr val="F8FAFC"/>
          </a:solidFill>
          <a:ln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7" y="1536192"/>
            <a:ext cx="56509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43941"/>
                </a:solidFill>
                <a:latin typeface="Consolas"/>
              </a:defRPr>
            </a:pPr>
            <a:r>
              <a:rPr sz="2000" dirty="0"/>
              <a:t>discharging = </a:t>
            </a:r>
            <a:r>
              <a:rPr sz="2000" dirty="0" err="1"/>
              <a:t>df</a:t>
            </a:r>
            <a:r>
              <a:rPr sz="2000" dirty="0"/>
              <a:t>[</a:t>
            </a:r>
            <a:r>
              <a:rPr sz="2000" dirty="0" err="1"/>
              <a:t>df</a:t>
            </a:r>
            <a:r>
              <a:rPr sz="2000" dirty="0"/>
              <a:t>['charge'] == 0]</a:t>
            </a:r>
            <a:br>
              <a:rPr sz="2000" dirty="0"/>
            </a:br>
            <a:r>
              <a:rPr sz="2000" dirty="0" err="1"/>
              <a:t>time_deltas</a:t>
            </a:r>
            <a:r>
              <a:rPr sz="2000" dirty="0"/>
              <a:t> = discharging['time'].diff().</a:t>
            </a:r>
            <a:r>
              <a:rPr sz="2000" dirty="0" err="1"/>
              <a:t>fillna</a:t>
            </a:r>
            <a:r>
              <a:rPr sz="2000" dirty="0"/>
              <a:t>(0)</a:t>
            </a:r>
            <a:br>
              <a:rPr sz="2000" dirty="0"/>
            </a:br>
            <a:r>
              <a:rPr sz="2000" dirty="0" err="1"/>
              <a:t>energy_kwh</a:t>
            </a:r>
            <a:r>
              <a:rPr sz="2000" dirty="0"/>
              <a:t> = (abs(discharging['power']) * </a:t>
            </a:r>
            <a:r>
              <a:rPr sz="2000" dirty="0" err="1"/>
              <a:t>time_deltas</a:t>
            </a:r>
            <a:r>
              <a:rPr sz="2000" dirty="0"/>
              <a:t> / 3600).sum()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188720"/>
            <a:ext cx="43891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Formula used: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E = sum(|P| * dt / 3600)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Why this target: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- Direct use of logger telemetry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- Transparent and reproducible</a:t>
            </a:r>
          </a:p>
          <a:p>
            <a:pPr>
              <a:spcAft>
                <a:spcPts val="500"/>
              </a:spcAft>
              <a:defRPr sz="1600">
                <a:solidFill>
                  <a:srgbClr val="232A34"/>
                </a:solidFill>
              </a:defRPr>
            </a:pPr>
            <a:r>
              <a:rPr sz="2000" dirty="0"/>
              <a:t>- Trip-level scalar target for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6515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Feature Engineering (Derived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669280" cy="411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Trip dynamics: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Trip_Duration_Seconds</a:t>
            </a:r>
            <a:r>
              <a:rPr sz="2000" dirty="0"/>
              <a:t>, </a:t>
            </a:r>
            <a:r>
              <a:rPr sz="2000" dirty="0" err="1"/>
              <a:t>Trip_Duration_Minutes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Distance_km</a:t>
            </a:r>
            <a:r>
              <a:rPr sz="2000" dirty="0"/>
              <a:t>, </a:t>
            </a:r>
            <a:r>
              <a:rPr sz="2000" dirty="0" err="1"/>
              <a:t>Avg_Speed_kmh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Power and charging: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Avg_Power_kW</a:t>
            </a:r>
            <a:r>
              <a:rPr sz="2000" dirty="0"/>
              <a:t>, </a:t>
            </a:r>
            <a:r>
              <a:rPr sz="2000" dirty="0" err="1"/>
              <a:t>Max_Power_kW</a:t>
            </a:r>
            <a:r>
              <a:rPr sz="2000" dirty="0"/>
              <a:t>, </a:t>
            </a:r>
            <a:r>
              <a:rPr sz="2000" dirty="0" err="1"/>
              <a:t>Min_Power_kW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Charge_Events</a:t>
            </a:r>
            <a:r>
              <a:rPr sz="2000" dirty="0"/>
              <a:t>, </a:t>
            </a:r>
            <a:r>
              <a:rPr sz="2000" dirty="0" err="1"/>
              <a:t>Is_Charging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Thermal and load: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Avg/Min/Max interior temperature, variance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Avg_Bus_Weight_kg</a:t>
            </a:r>
            <a:r>
              <a:rPr sz="2000" dirty="0"/>
              <a:t>, </a:t>
            </a:r>
            <a:r>
              <a:rPr sz="2000" dirty="0" err="1"/>
              <a:t>Avg_Passenger_Weight_kg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12064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Door behavior: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Door_Open_Duration_Seconds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Door_Open_Percentage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Door_Open_Events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Weather context: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Weather_Temp</a:t>
            </a:r>
            <a:r>
              <a:rPr sz="2000" dirty="0"/>
              <a:t>, </a:t>
            </a:r>
            <a:r>
              <a:rPr sz="2000" dirty="0" err="1"/>
              <a:t>Weather_Temp_Min</a:t>
            </a:r>
            <a:r>
              <a:rPr sz="2000" dirty="0"/>
              <a:t>, </a:t>
            </a:r>
            <a:r>
              <a:rPr sz="2000" dirty="0" err="1"/>
              <a:t>Weather_Temp_Max</a:t>
            </a: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Precipitation, Windspeed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Quality metadata: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</a:t>
            </a:r>
            <a:r>
              <a:rPr sz="2000" dirty="0" err="1"/>
              <a:t>Data_Quality_Flag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Trip = filename key (e.g., trip_2)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Unique trip identifier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Do NOT train on it; use for joins, traceability, error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Trip_Duration_Seconds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Trip_Duration_Seconds = max(time)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Total trip duration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Strong route-intensity predictor (keep one duration unit)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25496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Trip_Duration_Minutes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89503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Trip_Duration_Minutes = Trip_Duration_Seconds / 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9125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Trip duration in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9503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Readable duration feature for baseline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58184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Distance_km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Distance_km = odometer_last_valid - odometer_first_valid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239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Trip distance traveled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Top driver of energy; core baseline predictor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Avg_Speed_kmh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Avg_Speed_kmh = Distance_km / (Trip_Duration_Minutes / 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Average trip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Captures route profile; useful with distance and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Avg_Interior_Temp_C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Avg_Interior_Temp_C = mean(temperature_valid)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Average interior cabin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Thermal context feature in multivariate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25496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Max_Interior_Temp_C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89503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Max_Interior_Temp_C = max(temperature_valid)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9125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Peak interior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9503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Captures peak thermal stress; useful in nonlinear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58184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Min_Interior_Temp_C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Min_Interior_Temp_C = min(temperature_valid)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239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Lowest interior 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Supports season/thermal effect modeling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Interior_Temp_Variance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Interior_Temp_Variance = var(temperature_valid)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Temperature instability over 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Captures HVAC fluctuation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Avg_Bus_Weight_kg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Avg_Bus_Weight_kg = mean(weight_cleaned)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Average bus mass during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Load proxy; keep with caution for linear collinearity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25496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Avg_Passenger_Weight_kg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89503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Avg_Passenger_Weight_kg = max(0, Avg_Bus_Weight_kg - 12000)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9125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Estimated load above baseline bus 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9503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Interpretable occupancy/load indicator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58184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Avg_Power_kW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Avg_Power_kW = mean(power_valid)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239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Average power intensity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Direct operational signal; often highly predictive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Max_Power_kW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Max_Power_kW = max(power_valid)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Peak power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Captures high-load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Min_Power_kW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Min_Power_kW = min(power_valid)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Lowest observed power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Useful with sign-aware interpretation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25496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Charge_Events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89503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Charge_Events = count(charge ==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9125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Charging-state event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9503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Useful in post-trip analysis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58184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Is_Charging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Is_Charging = 1 if any(charge == 1) else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239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Charging presence indicator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Binary categorical-style predictor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Energy_Consumed_kWh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Energy_Consumed_kWh = sum(abs(power_discharge) * dt / 3600)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Total trip energy 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TARGET (y), not an input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Door_Open_Duration_Seconds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sum(time_delta where doors ==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Total time doors remained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Strong HVAC-loss proxy 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25496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Door_Open_Percentage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89503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(Door_Open_Duration_Seconds / total_trip_time) *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9125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Normalized door-open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9503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Duration-normalized door behavior predictor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58184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Door_Open_Events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count(diff(open_mask) ==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239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Door-open event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Strong secondary predictor for thermal disturbance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Weather_Temp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date-match(weather.temperature)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Ambient weather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External thermal context predictor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Weather_Temp_Min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date-match(weather.temperature_min)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585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Daily minimum weather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Lower ambient boundary feature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825496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3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Weather_Temp_Max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89503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date-match(weather.temperature_max)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9125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Daily maximum weather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9503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Upper ambient boundary feature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58184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Precipitation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date-match(weather.precipitation)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123944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Daily precipitation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221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Optional interaction feature (traffic/thermal effects)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3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31696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sz="3600" dirty="0"/>
              <a:t>Feature Details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Windspeed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02412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Formula: date-match(weather.windspeed)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2588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What: Daily wind speed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024128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t>Model use: Optional aero/weather context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92808"/>
            <a:ext cx="11567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681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3E78"/>
                </a:solidFill>
              </a:defRPr>
            </a:pPr>
            <a:r>
              <a:t>Data_Quality_Flag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56816"/>
            <a:ext cx="4480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rPr dirty="0"/>
              <a:t>Formula: sum(</a:t>
            </a:r>
            <a:r>
              <a:rPr dirty="0" err="1"/>
              <a:t>missing_charge</a:t>
            </a:r>
            <a:r>
              <a:rPr dirty="0"/>
              <a:t> + </a:t>
            </a:r>
            <a:r>
              <a:rPr dirty="0" err="1"/>
              <a:t>missing_power</a:t>
            </a:r>
            <a:r>
              <a:rPr dirty="0"/>
              <a:t> + </a:t>
            </a:r>
            <a:r>
              <a:rPr dirty="0" err="1"/>
              <a:t>missing_odometer</a:t>
            </a:r>
            <a:r>
              <a:rPr dirty="0"/>
              <a:t> + </a:t>
            </a:r>
            <a:r>
              <a:rPr dirty="0" err="1"/>
              <a:t>missing_weight</a:t>
            </a:r>
            <a:r>
              <a:rPr dirty="0"/>
              <a:t> + </a:t>
            </a:r>
            <a:r>
              <a:rPr dirty="0" err="1"/>
              <a:t>missing_doors</a:t>
            </a:r>
            <a:r>
              <a:rPr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6926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rPr dirty="0"/>
              <a:t>What: Trip-level reliability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56816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32D"/>
                </a:solidFill>
              </a:defRPr>
            </a:pPr>
            <a:r>
              <a:rPr dirty="0"/>
              <a:t>Model use: Use as feature or as filtering threshold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5024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Key Insight: Distance is the Strongest Driver</a:t>
            </a:r>
          </a:p>
        </p:txBody>
      </p:sp>
      <p:pic>
        <p:nvPicPr>
          <p:cNvPr id="4" name="Picture 3" descr="distance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40664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280160"/>
            <a:ext cx="338328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Correlation: 0.980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Interpretation: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Longer routes consume more energy.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Confirms target and distance feature are coherent.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7825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Temperature Relationship (Observed Effect)</a:t>
            </a:r>
          </a:p>
        </p:txBody>
      </p:sp>
      <p:pic>
        <p:nvPicPr>
          <p:cNvPr id="4" name="Picture 3" descr="temperature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740664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188720"/>
            <a:ext cx="347472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Correlation: -0.108</a:t>
            </a:r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Interpretation:</a:t>
            </a:r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- In this sample, temperature signal is weaker than distance/doors.</a:t>
            </a:r>
          </a:p>
          <a:p>
            <a:pPr>
              <a:spcAft>
                <a:spcPts val="500"/>
              </a:spcAft>
              <a:defRPr sz="1400">
                <a:solidFill>
                  <a:srgbClr val="232A34"/>
                </a:solidFill>
              </a:defRPr>
            </a:pPr>
            <a:r>
              <a:rPr sz="2000" dirty="0"/>
              <a:t>- Indicates route dynamics dominate energy variance.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4683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Why This Approach (and Not Others)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21208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Chosen: column-specific, explainable preprocessing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Pros: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Preserves signal semantics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Robust for noisy telemetry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Easy to audit and defend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Cons: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More manual logic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- Less automated than advanced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21208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Alternatives not chosen: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1) One generic imputer for all columns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   - fast, but high bias risk</a:t>
            </a:r>
            <a:endParaRPr lang="en-US"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2) Drop incomplete trips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   - simpler, but heavy data loss</a:t>
            </a:r>
            <a:endParaRPr lang="en-US"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3) Advanced imputation/filtering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</a:defRPr>
            </a:pPr>
            <a:r>
              <a:rPr sz="2000" dirty="0"/>
              <a:t>   - powerful, but less transparent for 24 trips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2765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3600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32A34"/>
                </a:solidFill>
              </a:defRPr>
            </a:pPr>
            <a:r>
              <a:rPr sz="2400" dirty="0"/>
              <a:t>- </a:t>
            </a:r>
            <a:r>
              <a:rPr lang="en-US" sz="2400" dirty="0"/>
              <a:t>C</a:t>
            </a:r>
            <a:r>
              <a:rPr sz="2400" dirty="0"/>
              <a:t>onverted imperfect raw telemetry into reliable ML-ready input.</a:t>
            </a:r>
          </a:p>
          <a:p>
            <a:pPr>
              <a:spcAft>
                <a:spcPts val="500"/>
              </a:spcAft>
              <a:defRPr sz="2000">
                <a:solidFill>
                  <a:srgbClr val="232A34"/>
                </a:solidFill>
              </a:defRPr>
            </a:pPr>
            <a:r>
              <a:rPr sz="2400" dirty="0"/>
              <a:t>- Focus was preprocessing depth: cleaning, integration, feature extraction, and</a:t>
            </a:r>
            <a:r>
              <a:rPr lang="en-US" sz="2400" dirty="0"/>
              <a:t> </a:t>
            </a:r>
            <a:r>
              <a:rPr sz="2400" dirty="0"/>
              <a:t>validation.</a:t>
            </a:r>
          </a:p>
          <a:p>
            <a:pPr>
              <a:spcAft>
                <a:spcPts val="500"/>
              </a:spcAft>
              <a:defRPr sz="2000">
                <a:solidFill>
                  <a:srgbClr val="232A34"/>
                </a:solidFill>
              </a:defRPr>
            </a:pPr>
            <a:r>
              <a:rPr sz="2400" dirty="0"/>
              <a:t>- Strongest drivers observed: distance, duration, and door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2965</Words>
  <Application>Microsoft Office PowerPoint</Application>
  <PresentationFormat>Widescreen</PresentationFormat>
  <Paragraphs>390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Ganesh Gudekar</cp:lastModifiedBy>
  <cp:revision>13</cp:revision>
  <dcterms:created xsi:type="dcterms:W3CDTF">2013-01-27T09:14:16Z</dcterms:created>
  <dcterms:modified xsi:type="dcterms:W3CDTF">2026-04-09T02:02:35Z</dcterms:modified>
  <cp:category/>
</cp:coreProperties>
</file>